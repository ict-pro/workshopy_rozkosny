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98" r:id="rId5"/>
    <p:sldId id="397" r:id="rId6"/>
    <p:sldId id="400" r:id="rId7"/>
    <p:sldId id="401" r:id="rId8"/>
    <p:sldId id="394" r:id="rId9"/>
    <p:sldId id="402" r:id="rId10"/>
    <p:sldId id="403" r:id="rId11"/>
  </p:sldIdLst>
  <p:sldSz cx="12192000" cy="6858000"/>
  <p:notesSz cx="7099300" cy="102346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lla Zemkova" initials="NZ" lastIdx="1" clrIdx="0">
    <p:extLst>
      <p:ext uri="{19B8F6BF-5375-455C-9EA6-DF929625EA0E}">
        <p15:presenceInfo xmlns:p15="http://schemas.microsoft.com/office/powerpoint/2012/main" userId="Nella Zemkov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AC00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94249" autoAdjust="0"/>
  </p:normalViewPr>
  <p:slideViewPr>
    <p:cSldViewPr snapToGrid="0">
      <p:cViewPr varScale="1">
        <p:scale>
          <a:sx n="114" d="100"/>
          <a:sy n="114" d="100"/>
        </p:scale>
        <p:origin x="1080" y="9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4262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FAE65ACE-5F49-4644-B8AA-A1E2A774CDF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4" cy="513508"/>
          </a:xfrm>
          <a:prstGeom prst="rect">
            <a:avLst/>
          </a:prstGeom>
        </p:spPr>
        <p:txBody>
          <a:bodyPr vert="horz" lIns="99041" tIns="49520" rIns="99041" bIns="49520" rtlCol="0"/>
          <a:lstStyle>
            <a:lvl1pPr algn="l">
              <a:defRPr sz="1300"/>
            </a:lvl1pPr>
          </a:lstStyle>
          <a:p>
            <a:r>
              <a:rPr lang="cs-CZ" dirty="0"/>
              <a:t>Efektivní analýza dat a reporting</a:t>
            </a:r>
            <a:endParaRPr lang="en-US" dirty="0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8C5FC9D-3DDA-4FB7-99D8-F76020277C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4" cy="513508"/>
          </a:xfrm>
          <a:prstGeom prst="rect">
            <a:avLst/>
          </a:prstGeom>
        </p:spPr>
        <p:txBody>
          <a:bodyPr vert="horz" lIns="99041" tIns="49520" rIns="99041" bIns="49520" rtlCol="0"/>
          <a:lstStyle>
            <a:lvl1pPr algn="r">
              <a:defRPr sz="1300"/>
            </a:lvl1pPr>
          </a:lstStyle>
          <a:p>
            <a:endParaRPr lang="en-US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56A33E6-F7BC-4330-A4C7-1FC2870C3B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6364" cy="513507"/>
          </a:xfrm>
          <a:prstGeom prst="rect">
            <a:avLst/>
          </a:prstGeom>
        </p:spPr>
        <p:txBody>
          <a:bodyPr vert="horz" lIns="99041" tIns="49520" rIns="99041" bIns="49520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CA30796-A2C3-412B-83CD-95BFE1838A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294" y="9721107"/>
            <a:ext cx="3076364" cy="513507"/>
          </a:xfrm>
          <a:prstGeom prst="rect">
            <a:avLst/>
          </a:prstGeom>
        </p:spPr>
        <p:txBody>
          <a:bodyPr vert="horz" lIns="99041" tIns="49520" rIns="99041" bIns="49520" rtlCol="0" anchor="b"/>
          <a:lstStyle>
            <a:lvl1pPr algn="r">
              <a:defRPr sz="1300"/>
            </a:lvl1pPr>
          </a:lstStyle>
          <a:p>
            <a:fld id="{806D23C6-740C-4B83-A8BF-FD933C543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493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4" cy="513508"/>
          </a:xfrm>
          <a:prstGeom prst="rect">
            <a:avLst/>
          </a:prstGeom>
        </p:spPr>
        <p:txBody>
          <a:bodyPr vert="horz" lIns="99041" tIns="49520" rIns="99041" bIns="49520" rtlCol="0"/>
          <a:lstStyle>
            <a:lvl1pPr algn="l">
              <a:defRPr sz="13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4" cy="513508"/>
          </a:xfrm>
          <a:prstGeom prst="rect">
            <a:avLst/>
          </a:prstGeom>
        </p:spPr>
        <p:txBody>
          <a:bodyPr vert="horz" lIns="99041" tIns="49520" rIns="99041" bIns="49520" rtlCol="0"/>
          <a:lstStyle>
            <a:lvl1pPr algn="r">
              <a:defRPr sz="1300"/>
            </a:lvl1pPr>
          </a:lstStyle>
          <a:p>
            <a:fld id="{9188362C-47FE-46FB-80E7-0B4B23E43B51}" type="datetimeFigureOut">
              <a:rPr lang="cs-CZ" smtClean="0"/>
              <a:t>16.03.2026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1" tIns="49520" rIns="99041" bIns="495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709931" y="4925407"/>
            <a:ext cx="5679440" cy="4029879"/>
          </a:xfrm>
          <a:prstGeom prst="rect">
            <a:avLst/>
          </a:prstGeom>
        </p:spPr>
        <p:txBody>
          <a:bodyPr vert="horz" lIns="99041" tIns="49520" rIns="99041" bIns="495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4" cy="513507"/>
          </a:xfrm>
          <a:prstGeom prst="rect">
            <a:avLst/>
          </a:prstGeom>
        </p:spPr>
        <p:txBody>
          <a:bodyPr vert="horz" lIns="99041" tIns="49520" rIns="99041" bIns="49520" rtlCol="0" anchor="b"/>
          <a:lstStyle>
            <a:lvl1pPr algn="l">
              <a:defRPr sz="13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4" cy="513507"/>
          </a:xfrm>
          <a:prstGeom prst="rect">
            <a:avLst/>
          </a:prstGeom>
        </p:spPr>
        <p:txBody>
          <a:bodyPr vert="horz" lIns="99041" tIns="49520" rIns="99041" bIns="49520" rtlCol="0" anchor="b"/>
          <a:lstStyle>
            <a:lvl1pPr algn="r">
              <a:defRPr sz="1300"/>
            </a:lvl1pPr>
          </a:lstStyle>
          <a:p>
            <a:fld id="{E7137145-6503-43DC-B223-4CD288B8A5B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68044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137145-6503-43DC-B223-4CD288B8A5B4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68512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137145-6503-43DC-B223-4CD288B8A5B4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22313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CFEF91-2A2F-4F70-ACCF-51AA5F0B1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8B3746E-B1D0-48AD-A4D3-66CF71129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CE897D4E-8A95-40AC-9768-217708B3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9B250B-A78B-470B-9267-5328930F7291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0" name="Zástupný symbol pro zápatí 7">
            <a:extLst>
              <a:ext uri="{FF2B5EF4-FFF2-40B4-BE49-F238E27FC236}">
                <a16:creationId xmlns:a16="http://schemas.microsoft.com/office/drawing/2014/main" id="{3B84B45C-1F21-4F72-B2DC-1C867F6CFB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4001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46550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E5E8F3-2A93-49EF-8CAE-0143346F6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3771"/>
            <a:ext cx="10515600" cy="90691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8DE2539-1CCB-4E0C-8F96-871DD68A8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9B250B-A78B-470B-9267-5328930F7291}" type="slidenum">
              <a:rPr lang="cs-CZ" smtClean="0"/>
              <a:t>‹#›</a:t>
            </a:fld>
            <a:endParaRPr lang="cs-CZ"/>
          </a:p>
        </p:txBody>
      </p:sp>
      <p:sp>
        <p:nvSpPr>
          <p:cNvPr id="9" name="Zástupný symbol pro obsah 6">
            <a:extLst>
              <a:ext uri="{FF2B5EF4-FFF2-40B4-BE49-F238E27FC236}">
                <a16:creationId xmlns:a16="http://schemas.microsoft.com/office/drawing/2014/main" id="{7D29154A-904E-4945-8CC1-4A6C314547F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00225"/>
            <a:ext cx="10515600" cy="404018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accent3"/>
                </a:solidFill>
              </a:defRPr>
            </a:lvl1pPr>
            <a:lvl2pPr marL="685800" indent="-228600"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accent3"/>
                </a:solidFill>
              </a:defRPr>
            </a:lvl2pPr>
            <a:lvl3pPr marL="1143000" indent="-228600">
              <a:buClr>
                <a:schemeClr val="accent1"/>
              </a:buClr>
              <a:buFont typeface="Wingdings" panose="05000000000000000000" pitchFamily="2" charset="2"/>
              <a:buChar char="ú"/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10" name="Zástupný symbol pro zápatí 7">
            <a:extLst>
              <a:ext uri="{FF2B5EF4-FFF2-40B4-BE49-F238E27FC236}">
                <a16:creationId xmlns:a16="http://schemas.microsoft.com/office/drawing/2014/main" id="{D8C0BC60-01A6-4565-92ED-2D801FCCC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36838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16456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4AC347-73A2-4FAC-B618-EA96CFA2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F7F5EA00-9CFD-4558-A933-00E748DD7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96F44D3-EE1C-43C7-A9E9-82E19A65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9B250B-A78B-470B-9267-5328930F7291}" type="slidenum">
              <a:rPr lang="cs-CZ" smtClean="0"/>
              <a:t>‹#›</a:t>
            </a:fld>
            <a:endParaRPr lang="cs-CZ"/>
          </a:p>
        </p:txBody>
      </p:sp>
      <p:sp>
        <p:nvSpPr>
          <p:cNvPr id="7" name="Zástupný symbol pro zápatí 7">
            <a:extLst>
              <a:ext uri="{FF2B5EF4-FFF2-40B4-BE49-F238E27FC236}">
                <a16:creationId xmlns:a16="http://schemas.microsoft.com/office/drawing/2014/main" id="{D2DA5691-B35B-4818-8AF5-784508023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7409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50918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4745A9-3D2C-4ECA-B30C-47524F01E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3D0263B-BCA4-4592-8327-5C29B9B729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5E9F41C6-C240-4AB9-A490-FEB85EA19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5E0C6AD-B82D-4FD1-9FC3-7EF22A036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9B250B-A78B-470B-9267-5328930F729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27D66379-3315-4D8A-BA65-9E534B2F16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7409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43046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31A666-2A18-4832-B2C7-9E83965F4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81396"/>
            <a:ext cx="10515600" cy="909292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F2BB6246-FA8F-4605-AD78-3CAE377C8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DE97D270-737A-4C01-9E66-37DADD18DB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BD089CCF-5C1B-44D7-915C-61A5DF57C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C3350B39-C29B-430B-915B-48F111B5DD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8DE27B0C-A9AB-4602-9509-4527C0FE9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9B250B-A78B-470B-9267-5328930F7291}" type="slidenum">
              <a:rPr lang="cs-CZ" smtClean="0"/>
              <a:t>‹#›</a:t>
            </a:fld>
            <a:endParaRPr lang="cs-CZ"/>
          </a:p>
        </p:txBody>
      </p:sp>
      <p:sp>
        <p:nvSpPr>
          <p:cNvPr id="10" name="Zástupný symbol pro zápatí 7">
            <a:extLst>
              <a:ext uri="{FF2B5EF4-FFF2-40B4-BE49-F238E27FC236}">
                <a16:creationId xmlns:a16="http://schemas.microsoft.com/office/drawing/2014/main" id="{A8CB9916-80BF-4B09-98EC-BBA55395C9C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38200" y="637409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09665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892CE8-CEAE-490A-B281-ADB924C6B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77F2265-07B7-4632-B169-C11B2F2F8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9B250B-A78B-470B-9267-5328930F7291}" type="slidenum">
              <a:rPr lang="cs-CZ" smtClean="0"/>
              <a:t>‹#›</a:t>
            </a:fld>
            <a:endParaRPr lang="cs-CZ"/>
          </a:p>
        </p:txBody>
      </p:sp>
      <p:sp>
        <p:nvSpPr>
          <p:cNvPr id="6" name="Zástupný symbol pro zápatí 7">
            <a:extLst>
              <a:ext uri="{FF2B5EF4-FFF2-40B4-BE49-F238E27FC236}">
                <a16:creationId xmlns:a16="http://schemas.microsoft.com/office/drawing/2014/main" id="{59E2BF09-C86B-4FC4-8011-F9168AF97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7409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40693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EEA71F9-EF67-4E0C-A5A0-5AACB91B2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9B250B-A78B-470B-9267-5328930F729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zápatí 7">
            <a:extLst>
              <a:ext uri="{FF2B5EF4-FFF2-40B4-BE49-F238E27FC236}">
                <a16:creationId xmlns:a16="http://schemas.microsoft.com/office/drawing/2014/main" id="{8EE0B579-6D0E-4222-A6DD-23979951D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7409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8904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27A2CE-5C1C-4EB5-8A48-62CA01572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49086"/>
            <a:ext cx="3932237" cy="120831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474C3BF1-9AF5-49AD-ACA5-778337A5D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6E45A11-6209-40D3-B0CB-BCB292F90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9B250B-A78B-470B-9267-5328930F729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pro obsah 6">
            <a:extLst>
              <a:ext uri="{FF2B5EF4-FFF2-40B4-BE49-F238E27FC236}">
                <a16:creationId xmlns:a16="http://schemas.microsoft.com/office/drawing/2014/main" id="{05963F3D-726C-4586-AF5F-55E0EC74BF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91878" y="849086"/>
            <a:ext cx="6361922" cy="4991327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accent3"/>
                </a:solidFill>
              </a:defRPr>
            </a:lvl1pPr>
            <a:lvl2pPr marL="685800" indent="-228600"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accent3"/>
                </a:solidFill>
              </a:defRPr>
            </a:lvl2pPr>
            <a:lvl3pPr marL="1143000" indent="-228600">
              <a:buClr>
                <a:schemeClr val="accent1"/>
              </a:buClr>
              <a:buFont typeface="Wingdings" panose="05000000000000000000" pitchFamily="2" charset="2"/>
              <a:buChar char="ú"/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9" name="Zástupný symbol pro zápatí 7">
            <a:extLst>
              <a:ext uri="{FF2B5EF4-FFF2-40B4-BE49-F238E27FC236}">
                <a16:creationId xmlns:a16="http://schemas.microsoft.com/office/drawing/2014/main" id="{38C7CAF0-3836-437E-B242-159B940051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7409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4819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5D8CB4-9959-4DB5-8E2C-B98B375D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56210"/>
            <a:ext cx="3932237" cy="120118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8B380C5B-2FE6-4988-9E62-EFD888051A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856211"/>
            <a:ext cx="6172200" cy="5004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16C632A4-05B7-4DB7-92A9-B6B8A9CE0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CE32879-5C50-4E34-A0CF-3F53DE12F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9B250B-A78B-470B-9267-5328930F729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6011AAFC-0F25-4E70-B12B-F72EE28D5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7409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57213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02FF65-57F0-4F09-920F-3CE6AD3B8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67ED983-C481-4D7B-AAE3-3ABB9375A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99892E6-3ECD-49E8-B0BF-CE2921C6B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9B250B-A78B-470B-9267-5328930F7291}" type="slidenum">
              <a:rPr lang="cs-CZ" smtClean="0"/>
              <a:t>‹#›</a:t>
            </a:fld>
            <a:endParaRPr lang="cs-CZ"/>
          </a:p>
        </p:txBody>
      </p:sp>
      <p:sp>
        <p:nvSpPr>
          <p:cNvPr id="7" name="Zástupný symbol pro zápatí 7">
            <a:extLst>
              <a:ext uri="{FF2B5EF4-FFF2-40B4-BE49-F238E27FC236}">
                <a16:creationId xmlns:a16="http://schemas.microsoft.com/office/drawing/2014/main" id="{98BD717B-624F-40BE-80B4-A30D923D5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7409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90632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75D94886-42CA-49F9-A1ED-76A49F2C7D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552" y="789707"/>
            <a:ext cx="2567247" cy="5387255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1EAD5CA-DEE6-4212-92EF-8EB8D3B87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89709"/>
            <a:ext cx="7734300" cy="538725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F492D74-0B2E-4771-9809-5D3E9CA3A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9B250B-A78B-470B-9267-5328930F7291}" type="slidenum">
              <a:rPr lang="cs-CZ" smtClean="0"/>
              <a:t>‹#›</a:t>
            </a:fld>
            <a:endParaRPr lang="cs-CZ"/>
          </a:p>
        </p:txBody>
      </p:sp>
      <p:sp>
        <p:nvSpPr>
          <p:cNvPr id="7" name="Zástupný symbol pro zápatí 7">
            <a:extLst>
              <a:ext uri="{FF2B5EF4-FFF2-40B4-BE49-F238E27FC236}">
                <a16:creationId xmlns:a16="http://schemas.microsoft.com/office/drawing/2014/main" id="{B1924F62-D731-4F6F-8826-5E25212A4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7409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10912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A05B847F-1F28-49C2-BBEE-7A1757637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1756"/>
            <a:ext cx="10515600" cy="948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93B4A87-6929-45A4-8418-5E49F11C8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739B250B-A78B-470B-9267-5328930F7291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C607E4D5-07B3-4086-9D7C-05803FCC5F8D}"/>
              </a:ext>
            </a:extLst>
          </p:cNvPr>
          <p:cNvSpPr/>
          <p:nvPr userDrawn="1"/>
        </p:nvSpPr>
        <p:spPr>
          <a:xfrm>
            <a:off x="0" y="-9763"/>
            <a:ext cx="8761445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: s jedním odříznutým rohem 9">
            <a:extLst>
              <a:ext uri="{FF2B5EF4-FFF2-40B4-BE49-F238E27FC236}">
                <a16:creationId xmlns:a16="http://schemas.microsoft.com/office/drawing/2014/main" id="{BDB26723-1324-41A7-AE28-2668B8379B03}"/>
              </a:ext>
            </a:extLst>
          </p:cNvPr>
          <p:cNvSpPr/>
          <p:nvPr userDrawn="1"/>
        </p:nvSpPr>
        <p:spPr>
          <a:xfrm flipV="1">
            <a:off x="0" y="301338"/>
            <a:ext cx="8761445" cy="396000"/>
          </a:xfrm>
          <a:prstGeom prst="snip1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2" name="Zástupný symbol pro text 7">
            <a:extLst>
              <a:ext uri="{FF2B5EF4-FFF2-40B4-BE49-F238E27FC236}">
                <a16:creationId xmlns:a16="http://schemas.microsoft.com/office/drawing/2014/main" id="{E89DAFC1-FB03-44FD-8AB8-4F7B27DCA7A2}"/>
              </a:ext>
            </a:extLst>
          </p:cNvPr>
          <p:cNvSpPr txBox="1">
            <a:spLocks/>
          </p:cNvSpPr>
          <p:nvPr userDrawn="1"/>
        </p:nvSpPr>
        <p:spPr>
          <a:xfrm>
            <a:off x="1192957" y="345756"/>
            <a:ext cx="7229475" cy="2603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Claude Desktop – od dat k manažerským závěrům bez jediného řádku kódu</a:t>
            </a:r>
            <a:endParaRPr lang="cs-CZ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Obrázek 15">
            <a:extLst>
              <a:ext uri="{FF2B5EF4-FFF2-40B4-BE49-F238E27FC236}">
                <a16:creationId xmlns:a16="http://schemas.microsoft.com/office/drawing/2014/main" id="{6F10E94E-174A-44F4-A4B6-E5B67538D5F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2838" y="99536"/>
            <a:ext cx="1219202" cy="396241"/>
          </a:xfrm>
          <a:prstGeom prst="rect">
            <a:avLst/>
          </a:prstGeom>
        </p:spPr>
      </p:pic>
      <p:sp>
        <p:nvSpPr>
          <p:cNvPr id="18" name="Zástupný symbol pro text 17">
            <a:extLst>
              <a:ext uri="{FF2B5EF4-FFF2-40B4-BE49-F238E27FC236}">
                <a16:creationId xmlns:a16="http://schemas.microsoft.com/office/drawing/2014/main" id="{73406F6C-9C63-4745-A41A-67C8564B9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  <a:p>
            <a:pPr lvl="0"/>
            <a:endParaRPr lang="cs-CZ" dirty="0"/>
          </a:p>
        </p:txBody>
      </p:sp>
      <p:sp>
        <p:nvSpPr>
          <p:cNvPr id="19" name="Zástupný symbol pro zápatí 7">
            <a:extLst>
              <a:ext uri="{FF2B5EF4-FFF2-40B4-BE49-F238E27FC236}">
                <a16:creationId xmlns:a16="http://schemas.microsoft.com/office/drawing/2014/main" id="{4D523C5D-7F54-4B7B-A48E-DDFE35309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7409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/>
              <a:t>www.ictpro.cz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368240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AB62C-A342-717B-AA68-EBFED0BB44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3718" y="2341563"/>
            <a:ext cx="10260105" cy="2387600"/>
          </a:xfrm>
        </p:spPr>
        <p:txBody>
          <a:bodyPr>
            <a:noAutofit/>
          </a:bodyPr>
          <a:lstStyle/>
          <a:p>
            <a:r>
              <a:rPr lang="cs-CZ" sz="4400" b="1" dirty="0"/>
              <a:t>Claude Desktop </a:t>
            </a:r>
            <a:br>
              <a:rPr lang="cs-CZ" sz="4400" b="1" dirty="0"/>
            </a:br>
            <a:br>
              <a:rPr lang="cs-CZ" sz="4400" dirty="0"/>
            </a:br>
            <a:r>
              <a:rPr lang="cs-CZ" sz="4400" dirty="0"/>
              <a:t> </a:t>
            </a:r>
            <a:r>
              <a:rPr lang="cs-CZ" sz="4000" dirty="0"/>
              <a:t>od dat k manažerským závěrům </a:t>
            </a:r>
            <a:br>
              <a:rPr lang="cs-CZ" sz="4000" dirty="0"/>
            </a:br>
            <a:r>
              <a:rPr lang="cs-CZ" sz="4000" dirty="0"/>
              <a:t>bez jediného řádku kódu</a:t>
            </a:r>
            <a:endParaRPr lang="cs-CZ" sz="4400" dirty="0"/>
          </a:p>
        </p:txBody>
      </p:sp>
    </p:spTree>
    <p:extLst>
      <p:ext uri="{BB962C8B-B14F-4D97-AF65-F5344CB8AC3E}">
        <p14:creationId xmlns:p14="http://schemas.microsoft.com/office/powerpoint/2010/main" val="354769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928D96-AF32-2ED4-71B3-6DD43887E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B250B-A78B-470B-9267-5328930F7291}" type="slidenum">
              <a:rPr lang="cs-CZ" smtClean="0"/>
              <a:t>2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D8DC2C-A47E-D302-C646-3A3145AE6B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cs-CZ" dirty="0"/>
              <a:t>www.ictpro.cz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42CCC68-F337-DD3C-1A71-80E57B0D36F4}"/>
              </a:ext>
            </a:extLst>
          </p:cNvPr>
          <p:cNvSpPr txBox="1">
            <a:spLocks/>
          </p:cNvSpPr>
          <p:nvPr/>
        </p:nvSpPr>
        <p:spPr>
          <a:xfrm>
            <a:off x="610945" y="739003"/>
            <a:ext cx="10515600" cy="9069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3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cs-CZ" dirty="0"/>
              <a:t>Proč Claude pro analýzu dat?</a:t>
            </a: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6A9CCEF0-DB97-B3F5-108E-602AB4CE778E}"/>
              </a:ext>
            </a:extLst>
          </p:cNvPr>
          <p:cNvSpPr/>
          <p:nvPr/>
        </p:nvSpPr>
        <p:spPr>
          <a:xfrm>
            <a:off x="640080" y="1554480"/>
            <a:ext cx="5029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8D9E01C5-620E-D81B-2A64-9784E1E9431C}"/>
              </a:ext>
            </a:extLst>
          </p:cNvPr>
          <p:cNvSpPr/>
          <p:nvPr/>
        </p:nvSpPr>
        <p:spPr>
          <a:xfrm>
            <a:off x="640080" y="1554480"/>
            <a:ext cx="54864" cy="19202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6385EC06-F79C-68D8-DD85-F2C14793B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457200" cy="457200"/>
          </a:xfrm>
          <a:prstGeom prst="rect">
            <a:avLst/>
          </a:prstGeom>
        </p:spPr>
      </p:pic>
      <p:sp>
        <p:nvSpPr>
          <p:cNvPr id="15" name="Text 6">
            <a:extLst>
              <a:ext uri="{FF2B5EF4-FFF2-40B4-BE49-F238E27FC236}">
                <a16:creationId xmlns:a16="http://schemas.microsoft.com/office/drawing/2014/main" id="{CF85E53F-7DA9-0453-0D95-78C3F30EB065}"/>
              </a:ext>
            </a:extLst>
          </p:cNvPr>
          <p:cNvSpPr/>
          <p:nvPr/>
        </p:nvSpPr>
        <p:spPr>
          <a:xfrm>
            <a:off x="155448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Dramaticky zkracuje přípravu dat</a:t>
            </a:r>
            <a:endParaRPr lang="en-US" sz="20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458E1584-8929-D533-DDC7-EE6C66A7A181}"/>
              </a:ext>
            </a:extLst>
          </p:cNvPr>
          <p:cNvSpPr/>
          <p:nvPr/>
        </p:nvSpPr>
        <p:spPr>
          <a:xfrm>
            <a:off x="1554480" y="22402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Analytik stráví spoustu času přípravou dat — Claude tuto fázi dramaticky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zkracuje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5F66FCCD-3CAD-C1F1-F64B-5FB8051E4099}"/>
              </a:ext>
            </a:extLst>
          </p:cNvPr>
          <p:cNvSpPr/>
          <p:nvPr/>
        </p:nvSpPr>
        <p:spPr>
          <a:xfrm>
            <a:off x="6217920" y="1554480"/>
            <a:ext cx="5029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DCC5D0AA-30AB-3D83-4E99-261BF51E56D4}"/>
              </a:ext>
            </a:extLst>
          </p:cNvPr>
          <p:cNvSpPr/>
          <p:nvPr/>
        </p:nvSpPr>
        <p:spPr>
          <a:xfrm>
            <a:off x="6217920" y="1554480"/>
            <a:ext cx="54864" cy="19202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681B265A-BEF2-7134-CCE0-012BE0E53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74520"/>
            <a:ext cx="457200" cy="457200"/>
          </a:xfrm>
          <a:prstGeom prst="rect">
            <a:avLst/>
          </a:prstGeom>
        </p:spPr>
      </p:pic>
      <p:sp>
        <p:nvSpPr>
          <p:cNvPr id="20" name="Text 10">
            <a:extLst>
              <a:ext uri="{FF2B5EF4-FFF2-40B4-BE49-F238E27FC236}">
                <a16:creationId xmlns:a16="http://schemas.microsoft.com/office/drawing/2014/main" id="{FB30440F-8EE7-A91D-1119-6F67D56CCBC1}"/>
              </a:ext>
            </a:extLst>
          </p:cNvPr>
          <p:cNvSpPr/>
          <p:nvPr/>
        </p:nvSpPr>
        <p:spPr>
          <a:xfrm>
            <a:off x="713232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Spustí kód, vytvoří vizualizace</a:t>
            </a:r>
            <a:endParaRPr lang="en-US" sz="200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348FD0C1-21A3-5421-A2A0-DA912AB1133E}"/>
              </a:ext>
            </a:extLst>
          </p:cNvPr>
          <p:cNvSpPr/>
          <p:nvPr/>
        </p:nvSpPr>
        <p:spPr>
          <a:xfrm>
            <a:off x="7132320" y="22402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 jen text, ale funkční analytický výstup — kód, grafy, iterace přímo v prohlížeči.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53F2437A-525C-B027-F365-E1160A1F3700}"/>
              </a:ext>
            </a:extLst>
          </p:cNvPr>
          <p:cNvSpPr/>
          <p:nvPr/>
        </p:nvSpPr>
        <p:spPr>
          <a:xfrm>
            <a:off x="640080" y="3931920"/>
            <a:ext cx="5029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B54CF29E-3C28-9C35-D2B1-B717FFFA7950}"/>
              </a:ext>
            </a:extLst>
          </p:cNvPr>
          <p:cNvSpPr/>
          <p:nvPr/>
        </p:nvSpPr>
        <p:spPr>
          <a:xfrm>
            <a:off x="640080" y="3931920"/>
            <a:ext cx="54864" cy="19202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D6E06283-DFAA-0281-A423-0ABC7E8660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51960"/>
            <a:ext cx="457200" cy="457200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0353FB8B-C5B4-AEEA-3CCD-8991170863B6}"/>
              </a:ext>
            </a:extLst>
          </p:cNvPr>
          <p:cNvSpPr/>
          <p:nvPr/>
        </p:nvSpPr>
        <p:spPr>
          <a:xfrm>
            <a:off x="1554480" y="4160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Konzultant, ne automat</a:t>
            </a:r>
            <a:endParaRPr lang="en-US" sz="200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EDADDD85-B727-89F7-E425-370BCE8BF075}"/>
              </a:ext>
            </a:extLst>
          </p:cNvPr>
          <p:cNvSpPr/>
          <p:nvPr/>
        </p:nvSpPr>
        <p:spPr>
          <a:xfrm>
            <a:off x="1554480" y="4617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buNone/>
            </a:pP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Pomáhá ověřovat závěry, hledat slepá místa, formulovat příběh pro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rozhodování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5E285AF7-0358-3DF2-8B33-0553692C0998}"/>
              </a:ext>
            </a:extLst>
          </p:cNvPr>
          <p:cNvSpPr/>
          <p:nvPr/>
        </p:nvSpPr>
        <p:spPr>
          <a:xfrm>
            <a:off x="6217920" y="3931920"/>
            <a:ext cx="5029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798EF36C-AB30-2AA8-50A1-642BB363485D}"/>
              </a:ext>
            </a:extLst>
          </p:cNvPr>
          <p:cNvSpPr/>
          <p:nvPr/>
        </p:nvSpPr>
        <p:spPr>
          <a:xfrm>
            <a:off x="6217920" y="3931920"/>
            <a:ext cx="54864" cy="19202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9" name="Image 4" descr="preencoded.png">
            <a:extLst>
              <a:ext uri="{FF2B5EF4-FFF2-40B4-BE49-F238E27FC236}">
                <a16:creationId xmlns:a16="http://schemas.microsoft.com/office/drawing/2014/main" id="{84CF244A-AEBB-3146-535A-8F1452C840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251960"/>
            <a:ext cx="457200" cy="457200"/>
          </a:xfrm>
          <a:prstGeom prst="rect">
            <a:avLst/>
          </a:prstGeom>
        </p:spPr>
      </p:pic>
      <p:sp>
        <p:nvSpPr>
          <p:cNvPr id="30" name="Text 18">
            <a:extLst>
              <a:ext uri="{FF2B5EF4-FFF2-40B4-BE49-F238E27FC236}">
                <a16:creationId xmlns:a16="http://schemas.microsoft.com/office/drawing/2014/main" id="{E9ADFEB7-BE5C-E0CE-80B2-DC2B6547313E}"/>
              </a:ext>
            </a:extLst>
          </p:cNvPr>
          <p:cNvSpPr/>
          <p:nvPr/>
        </p:nvSpPr>
        <p:spPr>
          <a:xfrm>
            <a:off x="7132320" y="4160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Dnes: od CSV k executive summary</a:t>
            </a:r>
            <a:endParaRPr lang="en-US" sz="2000" dirty="0"/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7BE892C1-D95D-BCBA-46E2-3AF3101AA36D}"/>
              </a:ext>
            </a:extLst>
          </p:cNvPr>
          <p:cNvSpPr/>
          <p:nvPr/>
        </p:nvSpPr>
        <p:spPr>
          <a:xfrm>
            <a:off x="7132320" y="4617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Vyzkoušíte si to na reálných datech — od načtení CSV po hotové manažerské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shrnutí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2252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CD66D6-3925-5CF1-2FCD-2AEFBFFA5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B250B-A78B-470B-9267-5328930F7291}" type="slidenum">
              <a:rPr lang="cs-CZ" smtClean="0"/>
              <a:t>3</a:t>
            </a:fld>
            <a:endParaRPr lang="cs-CZ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396927-A4FE-C263-9D8F-66E26A922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cs-CZ"/>
              <a:t>www.ictpro.cz</a:t>
            </a:r>
            <a:endParaRPr lang="cs-CZ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3ECBCCE-AD5C-3712-E5CB-22839A316847}"/>
              </a:ext>
            </a:extLst>
          </p:cNvPr>
          <p:cNvSpPr/>
          <p:nvPr/>
        </p:nvSpPr>
        <p:spPr>
          <a:xfrm>
            <a:off x="640080" y="778097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3D1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 je Claude</a:t>
            </a:r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7E23DFE8-2C0A-CE96-032B-AF050BAD9388}"/>
              </a:ext>
            </a:extLst>
          </p:cNvPr>
          <p:cNvSpPr/>
          <p:nvPr/>
        </p:nvSpPr>
        <p:spPr>
          <a:xfrm>
            <a:off x="640080" y="1499299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 od Anthropic — alternativa ke ChatGPT a Gemini se silným zaměřením na bezpečnost, dlouhý kontext (1 000 000 tokenů) a přesné dodržování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instrukcí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7460B02F-CF16-D263-0D57-34F6142675E2}"/>
              </a:ext>
            </a:extLst>
          </p:cNvPr>
          <p:cNvSpPr/>
          <p:nvPr/>
        </p:nvSpPr>
        <p:spPr>
          <a:xfrm>
            <a:off x="640080" y="23774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A12759F4-554C-22F2-F87B-3CF2C5FD6155}"/>
              </a:ext>
            </a:extLst>
          </p:cNvPr>
          <p:cNvSpPr/>
          <p:nvPr/>
        </p:nvSpPr>
        <p:spPr>
          <a:xfrm>
            <a:off x="1508760" y="2697480"/>
            <a:ext cx="731520" cy="731520"/>
          </a:xfrm>
          <a:prstGeom prst="ellipse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09E0E16C-2A3A-361D-006F-FAE074A52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834640"/>
            <a:ext cx="457200" cy="457200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A45B1EB3-349D-C0DC-6C2D-F3F1EC6C6A38}"/>
              </a:ext>
            </a:extLst>
          </p:cNvPr>
          <p:cNvSpPr/>
          <p:nvPr/>
        </p:nvSpPr>
        <p:spPr>
          <a:xfrm>
            <a:off x="777240" y="3611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16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7370CDAC-240C-D148-EE06-6A451A188A4F}"/>
              </a:ext>
            </a:extLst>
          </p:cNvPr>
          <p:cNvSpPr/>
          <p:nvPr/>
        </p:nvSpPr>
        <p:spPr>
          <a:xfrm>
            <a:off x="868680" y="4069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3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Webové rozhraní s Projects, Artifacts a spouštěním kódu přímo v prohlížeči</a:t>
            </a:r>
            <a:endParaRPr lang="en-US" sz="12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99880578-FB80-C65B-DD33-BA02B6F9B990}"/>
              </a:ext>
            </a:extLst>
          </p:cNvPr>
          <p:cNvSpPr/>
          <p:nvPr/>
        </p:nvSpPr>
        <p:spPr>
          <a:xfrm>
            <a:off x="3447288" y="23774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A3A89363-9F62-6FD7-4A7E-8D02405E169E}"/>
              </a:ext>
            </a:extLst>
          </p:cNvPr>
          <p:cNvSpPr/>
          <p:nvPr/>
        </p:nvSpPr>
        <p:spPr>
          <a:xfrm>
            <a:off x="4315968" y="2697480"/>
            <a:ext cx="731520" cy="731520"/>
          </a:xfrm>
          <a:prstGeom prst="ellipse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1B5B7CFB-C16E-5E87-02F3-15A67767F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834640"/>
            <a:ext cx="457200" cy="457200"/>
          </a:xfrm>
          <a:prstGeom prst="rect">
            <a:avLst/>
          </a:prstGeom>
        </p:spPr>
      </p:pic>
      <p:sp>
        <p:nvSpPr>
          <p:cNvPr id="18" name="Text 11">
            <a:extLst>
              <a:ext uri="{FF2B5EF4-FFF2-40B4-BE49-F238E27FC236}">
                <a16:creationId xmlns:a16="http://schemas.microsoft.com/office/drawing/2014/main" id="{3D149C07-906D-6F67-9A28-ED39A8405DDA}"/>
              </a:ext>
            </a:extLst>
          </p:cNvPr>
          <p:cNvSpPr/>
          <p:nvPr/>
        </p:nvSpPr>
        <p:spPr>
          <a:xfrm>
            <a:off x="3584448" y="3611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</a:t>
            </a:r>
            <a:endParaRPr lang="en-US" sz="16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25FCCCD4-704C-1D38-5710-2E1C0CFF657A}"/>
              </a:ext>
            </a:extLst>
          </p:cNvPr>
          <p:cNvSpPr/>
          <p:nvPr/>
        </p:nvSpPr>
        <p:spPr>
          <a:xfrm>
            <a:off x="3675888" y="4069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3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Nativní aplikace pro Windows/Mac, přístup k lokálním souborům přes MCP</a:t>
            </a:r>
            <a:endParaRPr lang="en-US" sz="1200" dirty="0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59312754-58B3-6F1A-9FAF-95C0FD691A7A}"/>
              </a:ext>
            </a:extLst>
          </p:cNvPr>
          <p:cNvSpPr/>
          <p:nvPr/>
        </p:nvSpPr>
        <p:spPr>
          <a:xfrm>
            <a:off x="6254496" y="23774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A731F514-890A-6778-FB96-6B74D8CEDFBE}"/>
              </a:ext>
            </a:extLst>
          </p:cNvPr>
          <p:cNvSpPr/>
          <p:nvPr/>
        </p:nvSpPr>
        <p:spPr>
          <a:xfrm>
            <a:off x="7123176" y="2697480"/>
            <a:ext cx="731520" cy="731520"/>
          </a:xfrm>
          <a:prstGeom prst="ellipse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70817C18-7955-F3CE-B87B-BB0804D5E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2834640"/>
            <a:ext cx="457200" cy="457200"/>
          </a:xfrm>
          <a:prstGeom prst="rect">
            <a:avLst/>
          </a:prstGeom>
        </p:spPr>
      </p:pic>
      <p:sp>
        <p:nvSpPr>
          <p:cNvPr id="23" name="Text 15">
            <a:extLst>
              <a:ext uri="{FF2B5EF4-FFF2-40B4-BE49-F238E27FC236}">
                <a16:creationId xmlns:a16="http://schemas.microsoft.com/office/drawing/2014/main" id="{6B68AEA1-EC0D-FF6A-E887-306D13AE145B}"/>
              </a:ext>
            </a:extLst>
          </p:cNvPr>
          <p:cNvSpPr/>
          <p:nvPr/>
        </p:nvSpPr>
        <p:spPr>
          <a:xfrm>
            <a:off x="6391656" y="3611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C80BE166-3FC2-6088-C654-C4C6815B6348}"/>
              </a:ext>
            </a:extLst>
          </p:cNvPr>
          <p:cNvSpPr/>
          <p:nvPr/>
        </p:nvSpPr>
        <p:spPr>
          <a:xfrm>
            <a:off x="6483096" y="4069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3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 agentní nástroj pro terminál, automatizace analytických pipeline</a:t>
            </a:r>
            <a:endParaRPr lang="en-US" sz="1200" dirty="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2FA97CA2-F8DB-A9DE-253A-90699467D0F1}"/>
              </a:ext>
            </a:extLst>
          </p:cNvPr>
          <p:cNvSpPr/>
          <p:nvPr/>
        </p:nvSpPr>
        <p:spPr>
          <a:xfrm>
            <a:off x="9061704" y="23774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8981FB91-0740-1C9C-58A8-B16D5F02BCDB}"/>
              </a:ext>
            </a:extLst>
          </p:cNvPr>
          <p:cNvSpPr/>
          <p:nvPr/>
        </p:nvSpPr>
        <p:spPr>
          <a:xfrm>
            <a:off x="9930384" y="2697480"/>
            <a:ext cx="731520" cy="731520"/>
          </a:xfrm>
          <a:prstGeom prst="ellipse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7" name="Image 4" descr="preencoded.png">
            <a:extLst>
              <a:ext uri="{FF2B5EF4-FFF2-40B4-BE49-F238E27FC236}">
                <a16:creationId xmlns:a16="http://schemas.microsoft.com/office/drawing/2014/main" id="{DEDB3112-2A4A-7D42-395B-9F52B271DF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7544" y="2834640"/>
            <a:ext cx="457200" cy="457200"/>
          </a:xfrm>
          <a:prstGeom prst="rect">
            <a:avLst/>
          </a:prstGeom>
        </p:spPr>
      </p:pic>
      <p:sp>
        <p:nvSpPr>
          <p:cNvPr id="28" name="Text 19">
            <a:extLst>
              <a:ext uri="{FF2B5EF4-FFF2-40B4-BE49-F238E27FC236}">
                <a16:creationId xmlns:a16="http://schemas.microsoft.com/office/drawing/2014/main" id="{E1C4CA85-55F2-3ACB-3964-092D008D596C}"/>
              </a:ext>
            </a:extLst>
          </p:cNvPr>
          <p:cNvSpPr/>
          <p:nvPr/>
        </p:nvSpPr>
        <p:spPr>
          <a:xfrm>
            <a:off x="9198864" y="3611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DE23B569-DE82-E299-16D3-D63558109F48}"/>
              </a:ext>
            </a:extLst>
          </p:cNvPr>
          <p:cNvSpPr/>
          <p:nvPr/>
        </p:nvSpPr>
        <p:spPr>
          <a:xfrm>
            <a:off x="9290304" y="4069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3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Integrace do vlastních nástrojů, Structured Outputs, tool use</a:t>
            </a:r>
            <a:endParaRPr lang="en-US" sz="12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69BCC9C6-FBDA-636B-AAA6-7E881CCFA911}"/>
              </a:ext>
            </a:extLst>
          </p:cNvPr>
          <p:cNvSpPr/>
          <p:nvPr/>
        </p:nvSpPr>
        <p:spPr>
          <a:xfrm>
            <a:off x="640080" y="2665159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4E09043D-4EC6-77F1-F8EB-79B1EFDF7139}"/>
              </a:ext>
            </a:extLst>
          </p:cNvPr>
          <p:cNvSpPr/>
          <p:nvPr/>
        </p:nvSpPr>
        <p:spPr>
          <a:xfrm>
            <a:off x="1508760" y="2985199"/>
            <a:ext cx="731520" cy="731520"/>
          </a:xfrm>
          <a:prstGeom prst="ellipse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35" name="Image 1" descr="preencoded.png">
            <a:extLst>
              <a:ext uri="{FF2B5EF4-FFF2-40B4-BE49-F238E27FC236}">
                <a16:creationId xmlns:a16="http://schemas.microsoft.com/office/drawing/2014/main" id="{689C931F-70FC-22D0-6162-7C078A8C2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122359"/>
            <a:ext cx="457200" cy="457200"/>
          </a:xfrm>
          <a:prstGeom prst="rect">
            <a:avLst/>
          </a:prstGeom>
        </p:spPr>
      </p:pic>
      <p:sp>
        <p:nvSpPr>
          <p:cNvPr id="36" name="Text 7">
            <a:extLst>
              <a:ext uri="{FF2B5EF4-FFF2-40B4-BE49-F238E27FC236}">
                <a16:creationId xmlns:a16="http://schemas.microsoft.com/office/drawing/2014/main" id="{EACFD04B-DDB5-35D2-B1A6-1FA980509295}"/>
              </a:ext>
            </a:extLst>
          </p:cNvPr>
          <p:cNvSpPr/>
          <p:nvPr/>
        </p:nvSpPr>
        <p:spPr>
          <a:xfrm>
            <a:off x="777240" y="3899599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1600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CDDF8BA6-143D-20DF-A128-5C69D6838CBE}"/>
              </a:ext>
            </a:extLst>
          </p:cNvPr>
          <p:cNvSpPr/>
          <p:nvPr/>
        </p:nvSpPr>
        <p:spPr>
          <a:xfrm>
            <a:off x="868680" y="4356799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Webové rozhraní s Projects, Artifacts a spouštěním kódu přímo v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prohlížeči</a:t>
            </a:r>
            <a:r>
              <a:rPr lang="cs-CZ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solidFill>
                <a:srgbClr val="5C3A1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Shape 9">
            <a:extLst>
              <a:ext uri="{FF2B5EF4-FFF2-40B4-BE49-F238E27FC236}">
                <a16:creationId xmlns:a16="http://schemas.microsoft.com/office/drawing/2014/main" id="{B190E79B-6878-94D1-C975-DC90185D2F84}"/>
              </a:ext>
            </a:extLst>
          </p:cNvPr>
          <p:cNvSpPr/>
          <p:nvPr/>
        </p:nvSpPr>
        <p:spPr>
          <a:xfrm>
            <a:off x="3447288" y="2665159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7DB8CAAA-87EB-673E-A927-1D7652E98B1E}"/>
              </a:ext>
            </a:extLst>
          </p:cNvPr>
          <p:cNvSpPr/>
          <p:nvPr/>
        </p:nvSpPr>
        <p:spPr>
          <a:xfrm>
            <a:off x="4315968" y="2985199"/>
            <a:ext cx="731520" cy="731520"/>
          </a:xfrm>
          <a:prstGeom prst="ellipse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0" name="Image 2" descr="preencoded.png">
            <a:extLst>
              <a:ext uri="{FF2B5EF4-FFF2-40B4-BE49-F238E27FC236}">
                <a16:creationId xmlns:a16="http://schemas.microsoft.com/office/drawing/2014/main" id="{755065C9-4109-CB27-D8D0-E2B7E9AED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3122359"/>
            <a:ext cx="457200" cy="457200"/>
          </a:xfrm>
          <a:prstGeom prst="rect">
            <a:avLst/>
          </a:prstGeom>
        </p:spPr>
      </p:pic>
      <p:sp>
        <p:nvSpPr>
          <p:cNvPr id="41" name="Text 11">
            <a:extLst>
              <a:ext uri="{FF2B5EF4-FFF2-40B4-BE49-F238E27FC236}">
                <a16:creationId xmlns:a16="http://schemas.microsoft.com/office/drawing/2014/main" id="{352F711C-5546-849B-B049-8D5E5C31A598}"/>
              </a:ext>
            </a:extLst>
          </p:cNvPr>
          <p:cNvSpPr/>
          <p:nvPr/>
        </p:nvSpPr>
        <p:spPr>
          <a:xfrm>
            <a:off x="3584448" y="3899599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</a:t>
            </a:r>
            <a:endParaRPr lang="en-US" sz="1600" dirty="0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CF37F7C6-C876-6E35-A14C-D83F57180AAB}"/>
              </a:ext>
            </a:extLst>
          </p:cNvPr>
          <p:cNvSpPr/>
          <p:nvPr/>
        </p:nvSpPr>
        <p:spPr>
          <a:xfrm>
            <a:off x="3675888" y="4356799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Nativní aplikace pro Windows/Mac, přístup k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lokálním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souborům</a:t>
            </a:r>
            <a:r>
              <a:rPr lang="cs-CZ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solidFill>
                <a:srgbClr val="5C3A1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1F431F6E-AF0E-0ABF-3BF0-C0E04CC7A009}"/>
              </a:ext>
            </a:extLst>
          </p:cNvPr>
          <p:cNvSpPr/>
          <p:nvPr/>
        </p:nvSpPr>
        <p:spPr>
          <a:xfrm>
            <a:off x="6254496" y="2665159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68993189-BABC-9695-D4BC-26FCB700AB90}"/>
              </a:ext>
            </a:extLst>
          </p:cNvPr>
          <p:cNvSpPr/>
          <p:nvPr/>
        </p:nvSpPr>
        <p:spPr>
          <a:xfrm>
            <a:off x="7123176" y="2985199"/>
            <a:ext cx="731520" cy="731520"/>
          </a:xfrm>
          <a:prstGeom prst="ellipse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5" name="Image 3" descr="preencoded.png">
            <a:extLst>
              <a:ext uri="{FF2B5EF4-FFF2-40B4-BE49-F238E27FC236}">
                <a16:creationId xmlns:a16="http://schemas.microsoft.com/office/drawing/2014/main" id="{D907F645-AC7E-DC89-E613-97862C201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3122359"/>
            <a:ext cx="457200" cy="457200"/>
          </a:xfrm>
          <a:prstGeom prst="rect">
            <a:avLst/>
          </a:prstGeom>
        </p:spPr>
      </p:pic>
      <p:sp>
        <p:nvSpPr>
          <p:cNvPr id="46" name="Text 15">
            <a:extLst>
              <a:ext uri="{FF2B5EF4-FFF2-40B4-BE49-F238E27FC236}">
                <a16:creationId xmlns:a16="http://schemas.microsoft.com/office/drawing/2014/main" id="{045B1C3F-9048-615F-9473-21AC9FC8F98C}"/>
              </a:ext>
            </a:extLst>
          </p:cNvPr>
          <p:cNvSpPr/>
          <p:nvPr/>
        </p:nvSpPr>
        <p:spPr>
          <a:xfrm>
            <a:off x="6391656" y="3899599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3655F794-1167-62DD-61A7-BB15C2967028}"/>
              </a:ext>
            </a:extLst>
          </p:cNvPr>
          <p:cNvSpPr/>
          <p:nvPr/>
        </p:nvSpPr>
        <p:spPr>
          <a:xfrm>
            <a:off x="6483096" y="4356799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 agentní nástroj pro terminál, automatizace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analytických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pipeline</a:t>
            </a:r>
          </a:p>
        </p:txBody>
      </p:sp>
      <p:sp>
        <p:nvSpPr>
          <p:cNvPr id="48" name="Shape 17">
            <a:extLst>
              <a:ext uri="{FF2B5EF4-FFF2-40B4-BE49-F238E27FC236}">
                <a16:creationId xmlns:a16="http://schemas.microsoft.com/office/drawing/2014/main" id="{FFAFFD03-6F10-E357-9A3E-182D5BB3C0DA}"/>
              </a:ext>
            </a:extLst>
          </p:cNvPr>
          <p:cNvSpPr/>
          <p:nvPr/>
        </p:nvSpPr>
        <p:spPr>
          <a:xfrm>
            <a:off x="9061704" y="2665159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49" name="Shape 18">
            <a:extLst>
              <a:ext uri="{FF2B5EF4-FFF2-40B4-BE49-F238E27FC236}">
                <a16:creationId xmlns:a16="http://schemas.microsoft.com/office/drawing/2014/main" id="{3B777FFA-8276-6747-4745-3970635D4F7D}"/>
              </a:ext>
            </a:extLst>
          </p:cNvPr>
          <p:cNvSpPr/>
          <p:nvPr/>
        </p:nvSpPr>
        <p:spPr>
          <a:xfrm>
            <a:off x="9930384" y="2985199"/>
            <a:ext cx="731520" cy="731520"/>
          </a:xfrm>
          <a:prstGeom prst="ellipse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50" name="Image 4" descr="preencoded.png">
            <a:extLst>
              <a:ext uri="{FF2B5EF4-FFF2-40B4-BE49-F238E27FC236}">
                <a16:creationId xmlns:a16="http://schemas.microsoft.com/office/drawing/2014/main" id="{BB704A1F-65C0-FC3A-A2D8-398981D6ED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7544" y="3122359"/>
            <a:ext cx="457200" cy="457200"/>
          </a:xfrm>
          <a:prstGeom prst="rect">
            <a:avLst/>
          </a:prstGeom>
        </p:spPr>
      </p:pic>
      <p:sp>
        <p:nvSpPr>
          <p:cNvPr id="51" name="Text 19">
            <a:extLst>
              <a:ext uri="{FF2B5EF4-FFF2-40B4-BE49-F238E27FC236}">
                <a16:creationId xmlns:a16="http://schemas.microsoft.com/office/drawing/2014/main" id="{A5DFA4E9-F25B-CE12-4E82-24C8334D08C4}"/>
              </a:ext>
            </a:extLst>
          </p:cNvPr>
          <p:cNvSpPr/>
          <p:nvPr/>
        </p:nvSpPr>
        <p:spPr>
          <a:xfrm>
            <a:off x="9198864" y="3899599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8B90E651-6EE5-423B-FB50-F4183CE1C0A8}"/>
              </a:ext>
            </a:extLst>
          </p:cNvPr>
          <p:cNvSpPr/>
          <p:nvPr/>
        </p:nvSpPr>
        <p:spPr>
          <a:xfrm>
            <a:off x="9290304" y="4356799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Integrace do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vlastních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nástrojů</a:t>
            </a:r>
            <a:r>
              <a:rPr lang="cs-CZ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solidFill>
                <a:srgbClr val="5C3A1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616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C40DAB-721B-B563-2AD0-51191A6F3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B250B-A78B-470B-9267-5328930F7291}" type="slidenum">
              <a:rPr lang="cs-CZ" smtClean="0"/>
              <a:t>4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CE38BC-4C6D-6DBD-4756-4DB1DB365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cs-CZ"/>
              <a:t>www.ictpro.cz</a:t>
            </a:r>
            <a:endParaRPr lang="cs-CZ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52526BDF-C143-E0FC-E468-0CAE3EEFE2C4}"/>
              </a:ext>
            </a:extLst>
          </p:cNvPr>
          <p:cNvSpPr/>
          <p:nvPr/>
        </p:nvSpPr>
        <p:spPr>
          <a:xfrm>
            <a:off x="290456" y="806823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dirty="0">
                <a:solidFill>
                  <a:srgbClr val="3D1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Použité nástroje a data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09E3994-CF03-3169-BE02-93D987717442}"/>
              </a:ext>
            </a:extLst>
          </p:cNvPr>
          <p:cNvSpPr/>
          <p:nvPr/>
        </p:nvSpPr>
        <p:spPr>
          <a:xfrm>
            <a:off x="747656" y="1995543"/>
            <a:ext cx="32918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5519D195-0D9A-AB8B-9D17-635581AC7DC7}"/>
              </a:ext>
            </a:extLst>
          </p:cNvPr>
          <p:cNvSpPr/>
          <p:nvPr/>
        </p:nvSpPr>
        <p:spPr>
          <a:xfrm>
            <a:off x="747656" y="1995543"/>
            <a:ext cx="329184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3D807A9A-C521-8D69-81B8-31981DE96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536" y="2361303"/>
            <a:ext cx="640080" cy="640080"/>
          </a:xfrm>
          <a:prstGeom prst="rect">
            <a:avLst/>
          </a:prstGeom>
        </p:spPr>
      </p:pic>
      <p:sp>
        <p:nvSpPr>
          <p:cNvPr id="8" name="Text 6">
            <a:extLst>
              <a:ext uri="{FF2B5EF4-FFF2-40B4-BE49-F238E27FC236}">
                <a16:creationId xmlns:a16="http://schemas.microsoft.com/office/drawing/2014/main" id="{101F3E5A-D91A-90F9-6843-9D33BE4DA924}"/>
              </a:ext>
            </a:extLst>
          </p:cNvPr>
          <p:cNvSpPr/>
          <p:nvPr/>
        </p:nvSpPr>
        <p:spPr>
          <a:xfrm>
            <a:off x="930536" y="3184263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účet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B167268-C524-20CB-6097-A2CE9874D35D}"/>
              </a:ext>
            </a:extLst>
          </p:cNvPr>
          <p:cNvSpPr/>
          <p:nvPr/>
        </p:nvSpPr>
        <p:spPr>
          <a:xfrm>
            <a:off x="1021976" y="3732903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 účely replikace použitého postupu stačí bezplatný účet na claude.ai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97A1924-20D5-C545-16B4-B9AD1B8C0E3F}"/>
              </a:ext>
            </a:extLst>
          </p:cNvPr>
          <p:cNvSpPr/>
          <p:nvPr/>
        </p:nvSpPr>
        <p:spPr>
          <a:xfrm>
            <a:off x="1387736" y="4738743"/>
            <a:ext cx="2011680" cy="365760"/>
          </a:xfrm>
          <a:prstGeom prst="rect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868E7CC-690F-C378-FF14-86692A75ADA4}"/>
              </a:ext>
            </a:extLst>
          </p:cNvPr>
          <p:cNvSpPr/>
          <p:nvPr/>
        </p:nvSpPr>
        <p:spPr>
          <a:xfrm>
            <a:off x="1387736" y="4738743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Zdarma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B7143C3-D7E0-D4DD-1CE5-E02923E026B0}"/>
              </a:ext>
            </a:extLst>
          </p:cNvPr>
          <p:cNvSpPr/>
          <p:nvPr/>
        </p:nvSpPr>
        <p:spPr>
          <a:xfrm>
            <a:off x="4679576" y="1995543"/>
            <a:ext cx="32918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301A4C0-A466-6980-58AB-490FEB59B121}"/>
              </a:ext>
            </a:extLst>
          </p:cNvPr>
          <p:cNvSpPr/>
          <p:nvPr/>
        </p:nvSpPr>
        <p:spPr>
          <a:xfrm>
            <a:off x="4679576" y="1995543"/>
            <a:ext cx="329184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4854E799-A09D-1940-9333-FBA26C2CC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456" y="2361303"/>
            <a:ext cx="640080" cy="640080"/>
          </a:xfrm>
          <a:prstGeom prst="rect">
            <a:avLst/>
          </a:prstGeom>
        </p:spPr>
      </p:pic>
      <p:sp>
        <p:nvSpPr>
          <p:cNvPr id="15" name="Text 12">
            <a:extLst>
              <a:ext uri="{FF2B5EF4-FFF2-40B4-BE49-F238E27FC236}">
                <a16:creationId xmlns:a16="http://schemas.microsoft.com/office/drawing/2014/main" id="{88A1F0EE-30DB-7168-DA5C-17C536187C2E}"/>
              </a:ext>
            </a:extLst>
          </p:cNvPr>
          <p:cNvSpPr/>
          <p:nvPr/>
        </p:nvSpPr>
        <p:spPr>
          <a:xfrm>
            <a:off x="4862456" y="3184263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</a:t>
            </a:r>
            <a:endParaRPr lang="en-US" sz="18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DC5105E-345C-AF4D-3007-2C2A6D081847}"/>
              </a:ext>
            </a:extLst>
          </p:cNvPr>
          <p:cNvSpPr/>
          <p:nvPr/>
        </p:nvSpPr>
        <p:spPr>
          <a:xfrm>
            <a:off x="4953896" y="3732903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Nativní aplikace pro Windows a Mac </a:t>
            </a:r>
            <a:br>
              <a:rPr lang="cs-CZ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 přístupem k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lokálním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souborům</a:t>
            </a:r>
            <a:endParaRPr lang="en-US" sz="1300" dirty="0">
              <a:solidFill>
                <a:srgbClr val="5C3A1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2FCB407-0CEE-25C6-432B-56B309C7FE21}"/>
              </a:ext>
            </a:extLst>
          </p:cNvPr>
          <p:cNvSpPr/>
          <p:nvPr/>
        </p:nvSpPr>
        <p:spPr>
          <a:xfrm>
            <a:off x="5319656" y="4738743"/>
            <a:ext cx="2011680" cy="365760"/>
          </a:xfrm>
          <a:prstGeom prst="rect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FACCE76-01FD-8FE8-B3E7-726E5E211423}"/>
              </a:ext>
            </a:extLst>
          </p:cNvPr>
          <p:cNvSpPr/>
          <p:nvPr/>
        </p:nvSpPr>
        <p:spPr>
          <a:xfrm>
            <a:off x="5319656" y="4738743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claude.com/download</a:t>
            </a:r>
            <a:endParaRPr lang="en-US" sz="11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2229C8A6-E6CE-6E02-3C8B-BF18575CDFEF}"/>
              </a:ext>
            </a:extLst>
          </p:cNvPr>
          <p:cNvSpPr/>
          <p:nvPr/>
        </p:nvSpPr>
        <p:spPr>
          <a:xfrm>
            <a:off x="8611496" y="1995543"/>
            <a:ext cx="32918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0845D0BD-D110-5B10-4EAC-C801C42BB277}"/>
              </a:ext>
            </a:extLst>
          </p:cNvPr>
          <p:cNvSpPr/>
          <p:nvPr/>
        </p:nvSpPr>
        <p:spPr>
          <a:xfrm>
            <a:off x="8611496" y="1995543"/>
            <a:ext cx="329184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F51F199E-F075-A5B5-728A-6080A548E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7376" y="2361303"/>
            <a:ext cx="640080" cy="640080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8823C584-3F9E-A37E-8E17-886A52D4512A}"/>
              </a:ext>
            </a:extLst>
          </p:cNvPr>
          <p:cNvSpPr/>
          <p:nvPr/>
        </p:nvSpPr>
        <p:spPr>
          <a:xfrm>
            <a:off x="8794376" y="3184263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Datová sada</a:t>
            </a:r>
            <a:endParaRPr lang="en-US" sz="18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29CBBC8C-05DE-F906-7B48-1A8C82362355}"/>
              </a:ext>
            </a:extLst>
          </p:cNvPr>
          <p:cNvSpPr/>
          <p:nvPr/>
        </p:nvSpPr>
        <p:spPr>
          <a:xfrm>
            <a:off x="8885816" y="3732903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Statistiky o pěstování zeleniny z otevřených dat ČR (data.gov.cz)</a:t>
            </a:r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D63B15B0-0B10-9A1B-D83B-0910C7964C66}"/>
              </a:ext>
            </a:extLst>
          </p:cNvPr>
          <p:cNvSpPr/>
          <p:nvPr/>
        </p:nvSpPr>
        <p:spPr>
          <a:xfrm>
            <a:off x="9251576" y="4738743"/>
            <a:ext cx="2011680" cy="365760"/>
          </a:xfrm>
          <a:prstGeom prst="rect">
            <a:avLst/>
          </a:prstGeom>
          <a:solidFill>
            <a:srgbClr val="F5EFD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13037442-72AC-4E63-05AE-928F6548CF7F}"/>
              </a:ext>
            </a:extLst>
          </p:cNvPr>
          <p:cNvSpPr/>
          <p:nvPr/>
        </p:nvSpPr>
        <p:spPr>
          <a:xfrm>
            <a:off x="9251576" y="4738743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ČR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43294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49097-7C03-8567-DEF8-CE8E4B1D9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B250B-A78B-470B-9267-5328930F7291}" type="slidenum">
              <a:rPr lang="cs-CZ" smtClean="0"/>
              <a:t>5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EF5833-05F9-D84A-A453-8478420DB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cs-CZ"/>
              <a:t>www.ictpro.cz</a:t>
            </a:r>
            <a:endParaRPr lang="cs-CZ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906D47E0-72BA-6F29-5A2A-D44FF5EAC507}"/>
              </a:ext>
            </a:extLst>
          </p:cNvPr>
          <p:cNvSpPr/>
          <p:nvPr/>
        </p:nvSpPr>
        <p:spPr>
          <a:xfrm>
            <a:off x="626632" y="759759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4800" dirty="0">
                <a:solidFill>
                  <a:srgbClr val="3D1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 vás </a:t>
            </a:r>
            <a:r>
              <a:rPr lang="en-US" sz="4800" dirty="0" err="1">
                <a:solidFill>
                  <a:srgbClr val="3D1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dnes</a:t>
            </a:r>
            <a:r>
              <a:rPr lang="en-US" sz="4800" dirty="0">
                <a:solidFill>
                  <a:srgbClr val="3D1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800" dirty="0" err="1">
                <a:solidFill>
                  <a:srgbClr val="3D1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čeká</a:t>
            </a:r>
            <a:endParaRPr lang="en-US" sz="4800" dirty="0">
              <a:solidFill>
                <a:srgbClr val="3D1C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0C74F205-558B-05D8-2ECA-78CE3A98D9B2}"/>
              </a:ext>
            </a:extLst>
          </p:cNvPr>
          <p:cNvSpPr/>
          <p:nvPr/>
        </p:nvSpPr>
        <p:spPr>
          <a:xfrm>
            <a:off x="992392" y="1719879"/>
            <a:ext cx="100584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ED03CF49-66E7-F3AB-AA06-BB918BAE346F}"/>
              </a:ext>
            </a:extLst>
          </p:cNvPr>
          <p:cNvSpPr/>
          <p:nvPr/>
        </p:nvSpPr>
        <p:spPr>
          <a:xfrm>
            <a:off x="992392" y="1719879"/>
            <a:ext cx="54864" cy="10058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466FE66C-4E6B-BAFD-FEC0-8CF8BAFB8935}"/>
              </a:ext>
            </a:extLst>
          </p:cNvPr>
          <p:cNvSpPr/>
          <p:nvPr/>
        </p:nvSpPr>
        <p:spPr>
          <a:xfrm>
            <a:off x="1266712" y="1857039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15E6AC70-D125-BE67-AF8C-75B5288BF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792" y="1994199"/>
            <a:ext cx="457200" cy="457200"/>
          </a:xfrm>
          <a:prstGeom prst="rect">
            <a:avLst/>
          </a:prstGeom>
        </p:spPr>
      </p:pic>
      <p:sp>
        <p:nvSpPr>
          <p:cNvPr id="30" name="Text 7">
            <a:extLst>
              <a:ext uri="{FF2B5EF4-FFF2-40B4-BE49-F238E27FC236}">
                <a16:creationId xmlns:a16="http://schemas.microsoft.com/office/drawing/2014/main" id="{3490D638-E033-E681-24C8-BEA1CF18E327}"/>
              </a:ext>
            </a:extLst>
          </p:cNvPr>
          <p:cNvSpPr/>
          <p:nvPr/>
        </p:nvSpPr>
        <p:spPr>
          <a:xfrm>
            <a:off x="2546872" y="1829607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Nastavení kontextu</a:t>
            </a:r>
            <a:endParaRPr lang="en-US" sz="17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5D8EE06F-1A72-8A82-E217-6805D0F3DF29}"/>
              </a:ext>
            </a:extLst>
          </p:cNvPr>
          <p:cNvSpPr/>
          <p:nvPr/>
        </p:nvSpPr>
        <p:spPr>
          <a:xfrm>
            <a:off x="2546872" y="2222799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Jak zadat roli, pravidla a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očekávání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první prompt rozhoduje o kvalitě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všeho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dalšího</a:t>
            </a:r>
            <a:endParaRPr lang="en-US" sz="1300" dirty="0">
              <a:solidFill>
                <a:srgbClr val="5C3A1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87AA1912-4C03-8EF1-20F2-91485A38196B}"/>
              </a:ext>
            </a:extLst>
          </p:cNvPr>
          <p:cNvSpPr/>
          <p:nvPr/>
        </p:nvSpPr>
        <p:spPr>
          <a:xfrm>
            <a:off x="992392" y="2890311"/>
            <a:ext cx="100584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32B8B366-C8A5-6B3F-8805-06BD055F2241}"/>
              </a:ext>
            </a:extLst>
          </p:cNvPr>
          <p:cNvSpPr/>
          <p:nvPr/>
        </p:nvSpPr>
        <p:spPr>
          <a:xfrm>
            <a:off x="992392" y="2890311"/>
            <a:ext cx="54864" cy="10058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C5A6A044-8640-F4E3-1762-B3DF2EED30FF}"/>
              </a:ext>
            </a:extLst>
          </p:cNvPr>
          <p:cNvSpPr/>
          <p:nvPr/>
        </p:nvSpPr>
        <p:spPr>
          <a:xfrm>
            <a:off x="1266712" y="3027471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pic>
        <p:nvPicPr>
          <p:cNvPr id="35" name="Image 2" descr="preencoded.png">
            <a:extLst>
              <a:ext uri="{FF2B5EF4-FFF2-40B4-BE49-F238E27FC236}">
                <a16:creationId xmlns:a16="http://schemas.microsoft.com/office/drawing/2014/main" id="{A306C621-0AB3-8030-5ED3-ECAA14ECD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792" y="3164631"/>
            <a:ext cx="457200" cy="457200"/>
          </a:xfrm>
          <a:prstGeom prst="rect">
            <a:avLst/>
          </a:prstGeom>
        </p:spPr>
      </p:pic>
      <p:sp>
        <p:nvSpPr>
          <p:cNvPr id="36" name="Text 12">
            <a:extLst>
              <a:ext uri="{FF2B5EF4-FFF2-40B4-BE49-F238E27FC236}">
                <a16:creationId xmlns:a16="http://schemas.microsoft.com/office/drawing/2014/main" id="{9251958D-130C-6F4A-BCB1-93896D24D657}"/>
              </a:ext>
            </a:extLst>
          </p:cNvPr>
          <p:cNvSpPr/>
          <p:nvPr/>
        </p:nvSpPr>
        <p:spPr>
          <a:xfrm>
            <a:off x="2546872" y="3000039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Validace a analýza dat</a:t>
            </a:r>
            <a:endParaRPr lang="en-US" sz="17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47F53FC0-B0D5-B42D-2E11-6D36C14FA552}"/>
              </a:ext>
            </a:extLst>
          </p:cNvPr>
          <p:cNvSpPr/>
          <p:nvPr/>
        </p:nvSpPr>
        <p:spPr>
          <a:xfrm>
            <a:off x="2546872" y="3393231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Jak ověřit správnost načtení a formulovat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analytické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otázky</a:t>
            </a:r>
            <a:endParaRPr lang="en-US" sz="1300" dirty="0">
              <a:solidFill>
                <a:srgbClr val="5C3A1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79DC6EC0-5682-2C73-6FB4-8983A98CB750}"/>
              </a:ext>
            </a:extLst>
          </p:cNvPr>
          <p:cNvSpPr/>
          <p:nvPr/>
        </p:nvSpPr>
        <p:spPr>
          <a:xfrm>
            <a:off x="992392" y="4060743"/>
            <a:ext cx="100584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DC7C4D60-D5B4-A1B3-C70E-1EA8810271F1}"/>
              </a:ext>
            </a:extLst>
          </p:cNvPr>
          <p:cNvSpPr/>
          <p:nvPr/>
        </p:nvSpPr>
        <p:spPr>
          <a:xfrm>
            <a:off x="992392" y="4060743"/>
            <a:ext cx="54864" cy="10058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446C86A4-44BA-5E3D-ED68-FA3E47B92B5D}"/>
              </a:ext>
            </a:extLst>
          </p:cNvPr>
          <p:cNvSpPr/>
          <p:nvPr/>
        </p:nvSpPr>
        <p:spPr>
          <a:xfrm>
            <a:off x="1266712" y="4197903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pic>
        <p:nvPicPr>
          <p:cNvPr id="41" name="Image 3" descr="preencoded.png">
            <a:extLst>
              <a:ext uri="{FF2B5EF4-FFF2-40B4-BE49-F238E27FC236}">
                <a16:creationId xmlns:a16="http://schemas.microsoft.com/office/drawing/2014/main" id="{D4524D05-8BDD-BF2F-085E-0EAF24F28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6792" y="4335063"/>
            <a:ext cx="457200" cy="457200"/>
          </a:xfrm>
          <a:prstGeom prst="rect">
            <a:avLst/>
          </a:prstGeom>
        </p:spPr>
      </p:pic>
      <p:sp>
        <p:nvSpPr>
          <p:cNvPr id="42" name="Text 17">
            <a:extLst>
              <a:ext uri="{FF2B5EF4-FFF2-40B4-BE49-F238E27FC236}">
                <a16:creationId xmlns:a16="http://schemas.microsoft.com/office/drawing/2014/main" id="{F75CB4F9-CE58-FBDC-03DE-51994040A3D0}"/>
              </a:ext>
            </a:extLst>
          </p:cNvPr>
          <p:cNvSpPr/>
          <p:nvPr/>
        </p:nvSpPr>
        <p:spPr>
          <a:xfrm>
            <a:off x="2546872" y="4170471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Konzultace závěrů</a:t>
            </a:r>
            <a:endParaRPr lang="en-US" sz="1700" dirty="0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78607A13-3570-060A-C909-430B77478D50}"/>
              </a:ext>
            </a:extLst>
          </p:cNvPr>
          <p:cNvSpPr/>
          <p:nvPr/>
        </p:nvSpPr>
        <p:spPr>
          <a:xfrm>
            <a:off x="2546872" y="4563663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buNone/>
            </a:pP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Iterace vizualizací, </a:t>
            </a:r>
            <a:r>
              <a:rPr lang="cs-CZ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ověření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vlastních závěrů — to, co odděluje juniora od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seniora</a:t>
            </a:r>
            <a:endParaRPr lang="en-US" sz="1300" dirty="0">
              <a:solidFill>
                <a:srgbClr val="5C3A1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A574D580-A5E5-64F0-919C-CEB4B70F37E1}"/>
              </a:ext>
            </a:extLst>
          </p:cNvPr>
          <p:cNvSpPr/>
          <p:nvPr/>
        </p:nvSpPr>
        <p:spPr>
          <a:xfrm>
            <a:off x="992392" y="5231175"/>
            <a:ext cx="100584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A044B007-9C72-76D3-7A40-C8BC532B3BCB}"/>
              </a:ext>
            </a:extLst>
          </p:cNvPr>
          <p:cNvSpPr/>
          <p:nvPr/>
        </p:nvSpPr>
        <p:spPr>
          <a:xfrm>
            <a:off x="992392" y="5231175"/>
            <a:ext cx="54864" cy="10058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50A1D9CC-3F2F-0518-15F7-3C00C4EEEEAC}"/>
              </a:ext>
            </a:extLst>
          </p:cNvPr>
          <p:cNvSpPr/>
          <p:nvPr/>
        </p:nvSpPr>
        <p:spPr>
          <a:xfrm>
            <a:off x="1266712" y="5368335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pic>
        <p:nvPicPr>
          <p:cNvPr id="47" name="Image 4" descr="preencoded.png">
            <a:extLst>
              <a:ext uri="{FF2B5EF4-FFF2-40B4-BE49-F238E27FC236}">
                <a16:creationId xmlns:a16="http://schemas.microsoft.com/office/drawing/2014/main" id="{E34B3F27-D78A-7B7D-96DE-3FA3C4BFAB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6792" y="5505495"/>
            <a:ext cx="457200" cy="457200"/>
          </a:xfrm>
          <a:prstGeom prst="rect">
            <a:avLst/>
          </a:prstGeom>
        </p:spPr>
      </p:pic>
      <p:sp>
        <p:nvSpPr>
          <p:cNvPr id="48" name="Text 22">
            <a:extLst>
              <a:ext uri="{FF2B5EF4-FFF2-40B4-BE49-F238E27FC236}">
                <a16:creationId xmlns:a16="http://schemas.microsoft.com/office/drawing/2014/main" id="{DBCEE243-0935-F18D-21DE-D033630AE3F8}"/>
              </a:ext>
            </a:extLst>
          </p:cNvPr>
          <p:cNvSpPr/>
          <p:nvPr/>
        </p:nvSpPr>
        <p:spPr>
          <a:xfrm>
            <a:off x="2546872" y="5340903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700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88925F22-44E2-96D9-6E14-A11B62125E6A}"/>
              </a:ext>
            </a:extLst>
          </p:cNvPr>
          <p:cNvSpPr/>
          <p:nvPr/>
        </p:nvSpPr>
        <p:spPr>
          <a:xfrm>
            <a:off x="2546872" y="5734095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Pyramida, storytelling, Amazon 6-pager, interaktivní artefakt — 4 formáty ze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stejných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</a:t>
            </a:r>
            <a:endParaRPr lang="en-US" sz="1300" dirty="0">
              <a:solidFill>
                <a:srgbClr val="5C3A1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138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C6B76-0207-9D56-77AF-BA731DC06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B250B-A78B-470B-9267-5328930F7291}" type="slidenum">
              <a:rPr lang="cs-CZ" smtClean="0"/>
              <a:t>6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6C3819-0F0D-CD24-809F-A8ADEE4B28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cs-CZ"/>
              <a:t>www.ictpro.cz</a:t>
            </a:r>
            <a:endParaRPr lang="cs-CZ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E65883CF-8CF3-4599-4A08-3D10B8BB0004}"/>
              </a:ext>
            </a:extLst>
          </p:cNvPr>
          <p:cNvSpPr/>
          <p:nvPr/>
        </p:nvSpPr>
        <p:spPr>
          <a:xfrm>
            <a:off x="586292" y="826994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dirty="0">
                <a:solidFill>
                  <a:srgbClr val="3D1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Jak zajistit konzistentní </a:t>
            </a:r>
            <a:r>
              <a:rPr lang="en-US" sz="4800" dirty="0" err="1">
                <a:solidFill>
                  <a:srgbClr val="3D1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výstupy</a:t>
            </a:r>
            <a:r>
              <a:rPr lang="en-US" sz="4800" dirty="0">
                <a:solidFill>
                  <a:srgbClr val="3D1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10F713E7-D394-DF92-D9D2-9B1D799E493C}"/>
              </a:ext>
            </a:extLst>
          </p:cNvPr>
          <p:cNvSpPr/>
          <p:nvPr/>
        </p:nvSpPr>
        <p:spPr>
          <a:xfrm>
            <a:off x="952052" y="1924274"/>
            <a:ext cx="100584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3E9784FD-230E-A253-DF7D-C5B2CD78C5B8}"/>
              </a:ext>
            </a:extLst>
          </p:cNvPr>
          <p:cNvSpPr/>
          <p:nvPr/>
        </p:nvSpPr>
        <p:spPr>
          <a:xfrm>
            <a:off x="952052" y="1924274"/>
            <a:ext cx="54864" cy="10058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C3A0D507-D77C-D316-B3AE-271FF7780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092" y="2226026"/>
            <a:ext cx="402336" cy="402336"/>
          </a:xfrm>
          <a:prstGeom prst="rect">
            <a:avLst/>
          </a:prstGeom>
        </p:spPr>
      </p:pic>
      <p:sp>
        <p:nvSpPr>
          <p:cNvPr id="8" name="Text 6">
            <a:extLst>
              <a:ext uri="{FF2B5EF4-FFF2-40B4-BE49-F238E27FC236}">
                <a16:creationId xmlns:a16="http://schemas.microsoft.com/office/drawing/2014/main" id="{92951355-E655-00FE-DB9C-59A269A8D210}"/>
              </a:ext>
            </a:extLst>
          </p:cNvPr>
          <p:cNvSpPr/>
          <p:nvPr/>
        </p:nvSpPr>
        <p:spPr>
          <a:xfrm>
            <a:off x="1866452" y="199742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Přesná šablona v promptu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86A3052-AF03-2F13-A055-BB7855EC4696}"/>
              </a:ext>
            </a:extLst>
          </p:cNvPr>
          <p:cNvSpPr/>
          <p:nvPr/>
        </p:nvSpPr>
        <p:spPr>
          <a:xfrm>
            <a:off x="1866452" y="238147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Definujte formát: Pro každou otázku 1 číslo + 1 graf + 1 komentář. Čím přesnější zadání, tím menší variance.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2387175-0615-77BB-D58C-70E66A9F2EAA}"/>
              </a:ext>
            </a:extLst>
          </p:cNvPr>
          <p:cNvSpPr/>
          <p:nvPr/>
        </p:nvSpPr>
        <p:spPr>
          <a:xfrm>
            <a:off x="9364532" y="2244314"/>
            <a:ext cx="1371600" cy="36576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9BF58E7-0634-1A3A-04DF-19559E978308}"/>
              </a:ext>
            </a:extLst>
          </p:cNvPr>
          <p:cNvSpPr/>
          <p:nvPr/>
        </p:nvSpPr>
        <p:spPr>
          <a:xfrm>
            <a:off x="9364532" y="224431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Nejúčinnější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0D18B6A-AF0C-4659-FA52-1D8BBD93556B}"/>
              </a:ext>
            </a:extLst>
          </p:cNvPr>
          <p:cNvSpPr/>
          <p:nvPr/>
        </p:nvSpPr>
        <p:spPr>
          <a:xfrm>
            <a:off x="952052" y="3112994"/>
            <a:ext cx="100584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D812723-E525-C7CC-5C7D-E9D019F302F4}"/>
              </a:ext>
            </a:extLst>
          </p:cNvPr>
          <p:cNvSpPr/>
          <p:nvPr/>
        </p:nvSpPr>
        <p:spPr>
          <a:xfrm>
            <a:off x="952052" y="3112994"/>
            <a:ext cx="54864" cy="10058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6CD8C7C4-3351-C04B-69AD-C15F1527C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092" y="3414746"/>
            <a:ext cx="402336" cy="402336"/>
          </a:xfrm>
          <a:prstGeom prst="rect">
            <a:avLst/>
          </a:prstGeom>
        </p:spPr>
      </p:pic>
      <p:sp>
        <p:nvSpPr>
          <p:cNvPr id="15" name="Text 12">
            <a:extLst>
              <a:ext uri="{FF2B5EF4-FFF2-40B4-BE49-F238E27FC236}">
                <a16:creationId xmlns:a16="http://schemas.microsoft.com/office/drawing/2014/main" id="{3E4D002D-899C-A2A0-111A-AEBC1A821600}"/>
              </a:ext>
            </a:extLst>
          </p:cNvPr>
          <p:cNvSpPr/>
          <p:nvPr/>
        </p:nvSpPr>
        <p:spPr>
          <a:xfrm>
            <a:off x="1866452" y="318614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příklady</a:t>
            </a:r>
            <a:endParaRPr lang="en-US" sz="16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63B70FF-306F-E701-2785-32150A01F17D}"/>
              </a:ext>
            </a:extLst>
          </p:cNvPr>
          <p:cNvSpPr/>
          <p:nvPr/>
        </p:nvSpPr>
        <p:spPr>
          <a:xfrm>
            <a:off x="1866452" y="357019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buNone/>
            </a:pP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Ukažte Claude vzorový výstup. 3–5 příkladů dramaticky zvyšuje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konzistenci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3161822-5C12-466C-86D2-8842F6FA2BF7}"/>
              </a:ext>
            </a:extLst>
          </p:cNvPr>
          <p:cNvSpPr/>
          <p:nvPr/>
        </p:nvSpPr>
        <p:spPr>
          <a:xfrm>
            <a:off x="9364532" y="3433034"/>
            <a:ext cx="1371600" cy="365760"/>
          </a:xfrm>
          <a:prstGeom prst="rect">
            <a:avLst/>
          </a:prstGeom>
          <a:solidFill>
            <a:srgbClr val="B8941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8AF0598-BBAD-38B9-F6CF-EC89B07CAC11}"/>
              </a:ext>
            </a:extLst>
          </p:cNvPr>
          <p:cNvSpPr/>
          <p:nvPr/>
        </p:nvSpPr>
        <p:spPr>
          <a:xfrm>
            <a:off x="9364532" y="343303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Velmi účinné</a:t>
            </a:r>
            <a:endParaRPr lang="en-US" sz="10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DF41FA36-5D31-717A-7313-35C18FC3E552}"/>
              </a:ext>
            </a:extLst>
          </p:cNvPr>
          <p:cNvSpPr/>
          <p:nvPr/>
        </p:nvSpPr>
        <p:spPr>
          <a:xfrm>
            <a:off x="952052" y="4301714"/>
            <a:ext cx="100584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29605769-305E-E9A1-680D-0836F65D05EA}"/>
              </a:ext>
            </a:extLst>
          </p:cNvPr>
          <p:cNvSpPr/>
          <p:nvPr/>
        </p:nvSpPr>
        <p:spPr>
          <a:xfrm>
            <a:off x="952052" y="4301714"/>
            <a:ext cx="54864" cy="10058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5020F36E-E31B-D7C5-8651-94669698D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092" y="4603466"/>
            <a:ext cx="402336" cy="402336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BA65297B-E199-7DD4-1318-FEE34C03EDBC}"/>
              </a:ext>
            </a:extLst>
          </p:cNvPr>
          <p:cNvSpPr/>
          <p:nvPr/>
        </p:nvSpPr>
        <p:spPr>
          <a:xfrm>
            <a:off x="1866452" y="437486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1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instructions</a:t>
            </a:r>
            <a:endParaRPr lang="en-US" sz="16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B83DB232-A847-F475-F674-73F1548F7471}"/>
              </a:ext>
            </a:extLst>
          </p:cNvPr>
          <p:cNvSpPr/>
          <p:nvPr/>
        </p:nvSpPr>
        <p:spPr>
          <a:xfrm>
            <a:off x="1866452" y="475891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 Claude Projects definujte pravidla jednou — platí pro celou </a:t>
            </a:r>
            <a:r>
              <a:rPr lang="en-US" sz="1300" dirty="0" err="1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konverzaci</a:t>
            </a:r>
            <a:r>
              <a:rPr lang="en-US" sz="1300" dirty="0">
                <a:solidFill>
                  <a:srgbClr val="5C3A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54F026DC-4D71-3B3F-F829-B8BFCF286337}"/>
              </a:ext>
            </a:extLst>
          </p:cNvPr>
          <p:cNvSpPr/>
          <p:nvPr/>
        </p:nvSpPr>
        <p:spPr>
          <a:xfrm>
            <a:off x="9364532" y="4621754"/>
            <a:ext cx="1371600" cy="365760"/>
          </a:xfrm>
          <a:prstGeom prst="rect">
            <a:avLst/>
          </a:prstGeom>
          <a:solidFill>
            <a:srgbClr val="5C3A1E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E9E375DB-855A-C06D-AA64-8955E3BB4D16}"/>
              </a:ext>
            </a:extLst>
          </p:cNvPr>
          <p:cNvSpPr/>
          <p:nvPr/>
        </p:nvSpPr>
        <p:spPr>
          <a:xfrm>
            <a:off x="9364532" y="462175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Účinné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63845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CD56B6-34BA-477A-1A8A-EB426A95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B250B-A78B-470B-9267-5328930F7291}" type="slidenum">
              <a:rPr lang="cs-CZ" smtClean="0"/>
              <a:t>7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F017E5-C3AC-54F0-CB47-3970120FB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cs-CZ"/>
              <a:t>www.ictpro.cz</a:t>
            </a:r>
            <a:endParaRPr lang="cs-CZ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98E92E-BF7E-7DCD-B61B-F7D1B1B6AC6A}"/>
              </a:ext>
            </a:extLst>
          </p:cNvPr>
          <p:cNvSpPr txBox="1">
            <a:spLocks/>
          </p:cNvSpPr>
          <p:nvPr/>
        </p:nvSpPr>
        <p:spPr>
          <a:xfrm>
            <a:off x="1326777" y="3193675"/>
            <a:ext cx="9144000" cy="153548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3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cs-CZ" dirty="0"/>
              <a:t>Děkuji za pozornost</a:t>
            </a:r>
          </a:p>
        </p:txBody>
      </p:sp>
    </p:spTree>
    <p:extLst>
      <p:ext uri="{BB962C8B-B14F-4D97-AF65-F5344CB8AC3E}">
        <p14:creationId xmlns:p14="http://schemas.microsoft.com/office/powerpoint/2010/main" val="2057520282"/>
      </p:ext>
    </p:extLst>
  </p:cSld>
  <p:clrMapOvr>
    <a:masterClrMapping/>
  </p:clrMapOvr>
</p:sld>
</file>

<file path=ppt/theme/theme1.xml><?xml version="1.0" encoding="utf-8"?>
<a:theme xmlns:a="http://schemas.openxmlformats.org/drawingml/2006/main" name="ICTPro_motiv">
  <a:themeElements>
    <a:clrScheme name="ICT Pr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CAC00"/>
      </a:accent1>
      <a:accent2>
        <a:srgbClr val="ACABAB"/>
      </a:accent2>
      <a:accent3>
        <a:srgbClr val="381A0C"/>
      </a:accent3>
      <a:accent4>
        <a:srgbClr val="345CA4"/>
      </a:accent4>
      <a:accent5>
        <a:srgbClr val="6BB34C"/>
      </a:accent5>
      <a:accent6>
        <a:srgbClr val="FFFFFF"/>
      </a:accent6>
      <a:hlink>
        <a:srgbClr val="ECAC00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ace_ICTPro_16x9.potx" id="{C788F481-440E-40F0-837E-6037D02887F0}" vid="{EFDA7702-8CB9-4A34-8BF6-96BC52A4B613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8810D8C24914442A7D0C3247B66797D" ma:contentTypeVersion="14" ma:contentTypeDescription="Vytvoří nový dokument" ma:contentTypeScope="" ma:versionID="f28f764744a7091f964f30f2fcd9069a">
  <xsd:schema xmlns:xsd="http://www.w3.org/2001/XMLSchema" xmlns:xs="http://www.w3.org/2001/XMLSchema" xmlns:p="http://schemas.microsoft.com/office/2006/metadata/properties" xmlns:ns3="12f37db9-297f-41b2-acf8-2f2b45a5fdde" xmlns:ns4="aa812ec4-c030-4fbe-b9e3-30e7dc1e6e7a" targetNamespace="http://schemas.microsoft.com/office/2006/metadata/properties" ma:root="true" ma:fieldsID="eac2558e49013862501672f74a7b749a" ns3:_="" ns4:_="">
    <xsd:import namespace="12f37db9-297f-41b2-acf8-2f2b45a5fdde"/>
    <xsd:import namespace="aa812ec4-c030-4fbe-b9e3-30e7dc1e6e7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f37db9-297f-41b2-acf8-2f2b45a5fd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812ec4-c030-4fbe-b9e3-30e7dc1e6e7a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1EF517-19AD-43E6-9995-91F26B2D2E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f37db9-297f-41b2-acf8-2f2b45a5fdde"/>
    <ds:schemaRef ds:uri="aa812ec4-c030-4fbe-b9e3-30e7dc1e6e7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61E31C1-97AB-4C3A-8756-EAE5F95531FC}">
  <ds:schemaRefs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terms/"/>
    <ds:schemaRef ds:uri="http://schemas.microsoft.com/office/infopath/2007/PartnerControls"/>
    <ds:schemaRef ds:uri="aa812ec4-c030-4fbe-b9e3-30e7dc1e6e7a"/>
    <ds:schemaRef ds:uri="http://purl.org/dc/dcmitype/"/>
    <ds:schemaRef ds:uri="http://schemas.microsoft.com/office/2006/documentManagement/types"/>
    <ds:schemaRef ds:uri="12f37db9-297f-41b2-acf8-2f2b45a5fdd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001DAC3-A30D-4F9E-9D9C-0A9ED19A34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Prezentace_ICTPro_16x9 (1)</Template>
  <TotalTime>14091</TotalTime>
  <Words>462</Words>
  <Application>Microsoft Office PowerPoint</Application>
  <PresentationFormat>Widescreen</PresentationFormat>
  <Paragraphs>76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Georgia</vt:lpstr>
      <vt:lpstr>Wingdings</vt:lpstr>
      <vt:lpstr>ICTPro_motiv</vt:lpstr>
      <vt:lpstr>Claude Desktop    od dat k manažerským závěrům  bez jediného řádku kódu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Název kurzu</dc:title>
  <dc:creator>Nella Zemkova</dc:creator>
  <cp:lastModifiedBy>Petr Rozkosny</cp:lastModifiedBy>
  <cp:revision>103</cp:revision>
  <cp:lastPrinted>2022-09-10T14:19:06Z</cp:lastPrinted>
  <dcterms:created xsi:type="dcterms:W3CDTF">2019-04-01T01:43:51Z</dcterms:created>
  <dcterms:modified xsi:type="dcterms:W3CDTF">2026-03-16T12:43:08Z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0x010100C8810D8C24914442A7D0C3247B66797D</vt:lpwstr>
  </property>
</Properties>
</file>